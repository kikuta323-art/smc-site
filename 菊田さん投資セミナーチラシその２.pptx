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2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8C2"/>
    <a:srgbClr val="FDD061"/>
    <a:srgbClr val="E375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46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36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87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341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25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208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854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4962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82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05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12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57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1A19F-531D-45DC-973A-E4CD68E95FD4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9389B-7116-49D2-B334-9255EDC0A3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36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DCED2D-7A9E-6219-7A2A-43F6339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3B7320-8793-1632-ED9C-930041ACBBEB}"/>
              </a:ext>
            </a:extLst>
          </p:cNvPr>
          <p:cNvSpPr/>
          <p:nvPr/>
        </p:nvSpPr>
        <p:spPr>
          <a:xfrm>
            <a:off x="0" y="394214"/>
            <a:ext cx="6858000" cy="9511785"/>
          </a:xfrm>
          <a:prstGeom prst="rect">
            <a:avLst/>
          </a:prstGeom>
          <a:solidFill>
            <a:srgbClr val="FB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6600" b="1">
              <a:ln>
                <a:solidFill>
                  <a:schemeClr val="tx1"/>
                </a:solidFill>
              </a:ln>
              <a:latin typeface="Hiragino Kaku Gothic StdN W8" panose="020B0800000000000000" pitchFamily="34" charset="-128"/>
              <a:ea typeface="Hiragino Kaku Gothic StdN W8" panose="020B0800000000000000" pitchFamily="34" charset="-128"/>
            </a:endParaRPr>
          </a:p>
        </p:txBody>
      </p:sp>
      <p:sp>
        <p:nvSpPr>
          <p:cNvPr id="5" name="平行四辺形 4">
            <a:extLst>
              <a:ext uri="{FF2B5EF4-FFF2-40B4-BE49-F238E27FC236}">
                <a16:creationId xmlns:a16="http://schemas.microsoft.com/office/drawing/2014/main" id="{F17FDB1A-5B0A-D981-D9B6-0B7B32C638BC}"/>
              </a:ext>
            </a:extLst>
          </p:cNvPr>
          <p:cNvSpPr/>
          <p:nvPr/>
        </p:nvSpPr>
        <p:spPr>
          <a:xfrm>
            <a:off x="0" y="1314448"/>
            <a:ext cx="6858000" cy="208739"/>
          </a:xfrm>
          <a:prstGeom prst="parallelogram">
            <a:avLst>
              <a:gd name="adj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平行四辺形 3">
            <a:extLst>
              <a:ext uri="{FF2B5EF4-FFF2-40B4-BE49-F238E27FC236}">
                <a16:creationId xmlns:a16="http://schemas.microsoft.com/office/drawing/2014/main" id="{7CCF5EC8-BDAC-25DA-9D05-47CF41757438}"/>
              </a:ext>
            </a:extLst>
          </p:cNvPr>
          <p:cNvSpPr/>
          <p:nvPr/>
        </p:nvSpPr>
        <p:spPr>
          <a:xfrm>
            <a:off x="0" y="-14409"/>
            <a:ext cx="6858000" cy="1423623"/>
          </a:xfrm>
          <a:prstGeom prst="parallelogram">
            <a:avLst>
              <a:gd name="adj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40A596D-B4F8-B8CE-C1A5-8899936A0B0E}"/>
              </a:ext>
            </a:extLst>
          </p:cNvPr>
          <p:cNvSpPr txBox="1"/>
          <p:nvPr/>
        </p:nvSpPr>
        <p:spPr>
          <a:xfrm>
            <a:off x="219798" y="557301"/>
            <a:ext cx="6311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終活</a:t>
            </a:r>
            <a:r>
              <a:rPr kumimoji="1" lang="ja-JP" altLang="en-US" sz="3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＆</a:t>
            </a:r>
            <a:r>
              <a:rPr kumimoji="1" lang="ja-JP" altLang="en-US"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投資セミナー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5B64FD-020B-E086-A2E3-B6BF0847B959}"/>
              </a:ext>
            </a:extLst>
          </p:cNvPr>
          <p:cNvSpPr txBox="1"/>
          <p:nvPr/>
        </p:nvSpPr>
        <p:spPr>
          <a:xfrm>
            <a:off x="1643817" y="62467"/>
            <a:ext cx="3740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おひとりさま</a:t>
            </a:r>
            <a:r>
              <a:rPr kumimoji="1" lang="ja-JP" altLang="en-US"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のための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B331D0E-C02A-FEB9-C3E5-663521E6F7C0}"/>
              </a:ext>
            </a:extLst>
          </p:cNvPr>
          <p:cNvSpPr txBox="1"/>
          <p:nvPr/>
        </p:nvSpPr>
        <p:spPr>
          <a:xfrm>
            <a:off x="219798" y="9477287"/>
            <a:ext cx="7536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FAX : 022-371-3112</a:t>
            </a:r>
            <a:r>
              <a:rPr lang="ja-JP" altLang="en-US" sz="120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　　　</a:t>
            </a:r>
            <a:r>
              <a:rPr lang="en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Mail : </a:t>
            </a:r>
            <a:r>
              <a:rPr lang="en" altLang="ja-JP" sz="1200" dirty="0" err="1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ria-kikuta@shonansec-planning.com</a:t>
            </a:r>
            <a:endParaRPr kumimoji="1" lang="ja-JP" altLang="en-US" sz="1200">
              <a:solidFill>
                <a:schemeClr val="bg2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lang="ja-JP" altLang="en-US" sz="120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湘南証券年金プランニング　　仙台市泉区泉中央</a:t>
            </a:r>
            <a:r>
              <a:rPr lang="en-US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1-7-1 </a:t>
            </a:r>
            <a:r>
              <a:rPr lang="ja-JP" altLang="en-US" sz="120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地下鉄泉中央駅ビル</a:t>
            </a:r>
            <a:r>
              <a:rPr lang="en-US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4</a:t>
            </a:r>
            <a:r>
              <a:rPr lang="en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F </a:t>
            </a:r>
            <a:endParaRPr lang="en-US" altLang="ja-JP" sz="1200" dirty="0">
              <a:solidFill>
                <a:schemeClr val="bg2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73E5903-4406-973A-B790-B12913A6B3BE}"/>
              </a:ext>
            </a:extLst>
          </p:cNvPr>
          <p:cNvGrpSpPr/>
          <p:nvPr/>
        </p:nvGrpSpPr>
        <p:grpSpPr>
          <a:xfrm>
            <a:off x="2386931" y="6262076"/>
            <a:ext cx="4765389" cy="1641471"/>
            <a:chOff x="489115" y="6362928"/>
            <a:chExt cx="4765389" cy="1641471"/>
          </a:xfrm>
        </p:grpSpPr>
        <p:sp>
          <p:nvSpPr>
            <p:cNvPr id="52" name="角丸四角形 51">
              <a:extLst>
                <a:ext uri="{FF2B5EF4-FFF2-40B4-BE49-F238E27FC236}">
                  <a16:creationId xmlns:a16="http://schemas.microsoft.com/office/drawing/2014/main" id="{BC65EBE3-563C-0DA2-0A26-534A4065C924}"/>
                </a:ext>
              </a:extLst>
            </p:cNvPr>
            <p:cNvSpPr/>
            <p:nvPr/>
          </p:nvSpPr>
          <p:spPr>
            <a:xfrm>
              <a:off x="567200" y="6566723"/>
              <a:ext cx="4282386" cy="1437676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角丸四角形 52">
              <a:extLst>
                <a:ext uri="{FF2B5EF4-FFF2-40B4-BE49-F238E27FC236}">
                  <a16:creationId xmlns:a16="http://schemas.microsoft.com/office/drawing/2014/main" id="{9000DE45-E5C5-91F4-F4FE-D0EA338A6E7C}"/>
                </a:ext>
              </a:extLst>
            </p:cNvPr>
            <p:cNvSpPr/>
            <p:nvPr/>
          </p:nvSpPr>
          <p:spPr>
            <a:xfrm>
              <a:off x="489115" y="6480620"/>
              <a:ext cx="4282386" cy="1437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5" name="図 54">
              <a:extLst>
                <a:ext uri="{FF2B5EF4-FFF2-40B4-BE49-F238E27FC236}">
                  <a16:creationId xmlns:a16="http://schemas.microsoft.com/office/drawing/2014/main" id="{277A04D3-B4F3-37A8-B718-FB863A7B9D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459" t="-12522" r="19914" b="-1"/>
            <a:stretch/>
          </p:blipFill>
          <p:spPr>
            <a:xfrm>
              <a:off x="696855" y="6362928"/>
              <a:ext cx="948325" cy="1437676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0C410D89-E256-5BB9-8C15-CC835DE03E0F}"/>
                </a:ext>
              </a:extLst>
            </p:cNvPr>
            <p:cNvSpPr txBox="1"/>
            <p:nvPr/>
          </p:nvSpPr>
          <p:spPr>
            <a:xfrm>
              <a:off x="1717751" y="6588389"/>
              <a:ext cx="3536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/>
                <a:t>講師：菊田吉宏</a:t>
              </a:r>
              <a:endParaRPr kumimoji="1" lang="en-US" altLang="ja-JP" b="1" dirty="0"/>
            </a:p>
          </p:txBody>
        </p:sp>
      </p:grpSp>
      <p:graphicFrame>
        <p:nvGraphicFramePr>
          <p:cNvPr id="14" name="表 15">
            <a:extLst>
              <a:ext uri="{FF2B5EF4-FFF2-40B4-BE49-F238E27FC236}">
                <a16:creationId xmlns:a16="http://schemas.microsoft.com/office/drawing/2014/main" id="{8170C500-BD54-6BE3-2D1D-EFD2838D2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343646"/>
              </p:ext>
            </p:extLst>
          </p:nvPr>
        </p:nvGraphicFramePr>
        <p:xfrm>
          <a:off x="112793" y="8248648"/>
          <a:ext cx="6632414" cy="1234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72">
                  <a:extLst>
                    <a:ext uri="{9D8B030D-6E8A-4147-A177-3AD203B41FA5}">
                      <a16:colId xmlns:a16="http://schemas.microsoft.com/office/drawing/2014/main" val="1144226409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3286560721"/>
                    </a:ext>
                  </a:extLst>
                </a:gridCol>
                <a:gridCol w="3109184">
                  <a:extLst>
                    <a:ext uri="{9D8B030D-6E8A-4147-A177-3AD203B41FA5}">
                      <a16:colId xmlns:a16="http://schemas.microsoft.com/office/drawing/2014/main" val="433996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参加</a:t>
                      </a:r>
                      <a:endParaRPr kumimoji="1" lang="en-US" altLang="ja-JP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申込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9/20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（火）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30〜12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　　　　　　　　</a:t>
                      </a:r>
                      <a:endParaRPr kumimoji="1" lang="en-US" altLang="ja-JP" dirty="0">
                        <a:solidFill>
                          <a:schemeClr val="bg2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10/7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（金）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30〜15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（ランチ付き）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　両日参加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  8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（木）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30〜12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　　　　　　　参加・不参加</a:t>
                      </a:r>
                      <a:endParaRPr kumimoji="1" lang="en-US" altLang="ja-JP" dirty="0">
                        <a:solidFill>
                          <a:schemeClr val="bg2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9/20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（火）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30〜15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（ランチ付き）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参加・不参加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6793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お名前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電話番号</a:t>
                      </a:r>
                      <a:endParaRPr kumimoji="1" lang="en-US" altLang="ja-JP" sz="9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（　　　）　　　　　ー　　　　　　　　　　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5400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l"/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メールアドレス</a:t>
                      </a:r>
                    </a:p>
                    <a:p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　　　　　　　　　　　　　　　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　　　　　　　　　　　　　　　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558236"/>
                  </a:ext>
                </a:extLst>
              </a:tr>
            </a:tbl>
          </a:graphicData>
        </a:graphic>
      </p:graphicFrame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C261F25-F062-A49E-B64A-0C0EF67D3A7F}"/>
              </a:ext>
            </a:extLst>
          </p:cNvPr>
          <p:cNvSpPr/>
          <p:nvPr/>
        </p:nvSpPr>
        <p:spPr>
          <a:xfrm>
            <a:off x="121887" y="7930652"/>
            <a:ext cx="6623319" cy="32517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AD8AE8C-F460-2EA4-32FF-80301D478735}"/>
              </a:ext>
            </a:extLst>
          </p:cNvPr>
          <p:cNvSpPr txBox="1"/>
          <p:nvPr/>
        </p:nvSpPr>
        <p:spPr>
          <a:xfrm>
            <a:off x="1300624" y="7917269"/>
            <a:ext cx="43799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メールまたは</a:t>
            </a:r>
            <a:r>
              <a:rPr kumimoji="1" lang="en-US" altLang="ja-JP" sz="1600" b="1" dirty="0">
                <a:solidFill>
                  <a:schemeClr val="bg1"/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FAX</a:t>
            </a:r>
            <a:r>
              <a:rPr kumimoji="1" lang="ja-JP" altLang="en-US" sz="1600" b="1">
                <a:solidFill>
                  <a:schemeClr val="bg1"/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にてお申し込みください</a:t>
            </a:r>
          </a:p>
        </p:txBody>
      </p:sp>
      <p:pic>
        <p:nvPicPr>
          <p:cNvPr id="30" name="図 29" descr="図形&#10;&#10;自動的に生成された説明">
            <a:extLst>
              <a:ext uri="{FF2B5EF4-FFF2-40B4-BE49-F238E27FC236}">
                <a16:creationId xmlns:a16="http://schemas.microsoft.com/office/drawing/2014/main" id="{7F04348D-7A7B-1457-BA29-AFE8C7BEC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0654" y="5420332"/>
            <a:ext cx="1908383" cy="332496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5421C4F-01EB-6A09-810A-9868CF69E2F8}"/>
              </a:ext>
            </a:extLst>
          </p:cNvPr>
          <p:cNvSpPr txBox="1"/>
          <p:nvPr/>
        </p:nvSpPr>
        <p:spPr>
          <a:xfrm>
            <a:off x="218524" y="6265763"/>
            <a:ext cx="18486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“おひとりさま”</a:t>
            </a:r>
            <a:endParaRPr kumimoji="1" lang="en-US" altLang="ja-JP" sz="1400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dist"/>
            <a:r>
              <a:rPr kumimoji="1" lang="ja-JP" altLang="en-US" sz="14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になったとき、老後の生活は大丈夫で</a:t>
            </a:r>
            <a:endParaRPr kumimoji="1" lang="en-US" altLang="ja-JP" sz="14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kumimoji="1" lang="ja-JP" altLang="en-US" sz="14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しょうか。</a:t>
            </a:r>
            <a:endParaRPr kumimoji="1" lang="en-US" altLang="ja-JP" sz="14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dist"/>
            <a:r>
              <a:rPr kumimoji="1" lang="ja-JP" altLang="en-US" sz="14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欲張らない安全な</a:t>
            </a:r>
            <a:endParaRPr kumimoji="1" lang="en-US" altLang="ja-JP" sz="14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dist"/>
            <a:r>
              <a:rPr kumimoji="1" lang="ja-JP" altLang="en-US" sz="14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投資方法を学び、</a:t>
            </a:r>
            <a:endParaRPr kumimoji="1" lang="en-US" altLang="ja-JP" sz="14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dist"/>
            <a:r>
              <a:rPr kumimoji="1" lang="ja-JP" altLang="en-US" sz="14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老後に備えましょう。</a:t>
            </a:r>
            <a:endParaRPr kumimoji="1" lang="en-US" altLang="ja-JP" sz="14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pic>
        <p:nvPicPr>
          <p:cNvPr id="59" name="図 58" descr="折れ線グラフ&#10;&#10;低い精度で自動的に生成された説明">
            <a:extLst>
              <a:ext uri="{FF2B5EF4-FFF2-40B4-BE49-F238E27FC236}">
                <a16:creationId xmlns:a16="http://schemas.microsoft.com/office/drawing/2014/main" id="{9F9C8D85-DBBA-5338-C41A-A7574AC23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" y="1582766"/>
            <a:ext cx="6614225" cy="4583172"/>
          </a:xfrm>
          <a:prstGeom prst="rect">
            <a:avLst/>
          </a:prstGeom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DB28258-2EE5-7DDE-591B-B808646410F1}"/>
              </a:ext>
            </a:extLst>
          </p:cNvPr>
          <p:cNvSpPr txBox="1"/>
          <p:nvPr/>
        </p:nvSpPr>
        <p:spPr>
          <a:xfrm>
            <a:off x="471487" y="1959745"/>
            <a:ext cx="610725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　</a:t>
            </a:r>
            <a:r>
              <a:rPr kumimoji="1" lang="en-US" altLang="ja-JP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〜</a:t>
            </a:r>
            <a:r>
              <a:rPr kumimoji="1" lang="ja-JP" altLang="en-US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　終活はエンディングノートから　</a:t>
            </a:r>
            <a:r>
              <a:rPr kumimoji="1" lang="en-US" altLang="ja-JP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〜</a:t>
            </a:r>
          </a:p>
          <a:p>
            <a:pPr algn="ctr"/>
            <a:endParaRPr kumimoji="1" lang="en-US" altLang="ja-JP" sz="8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おひとりさまになるのはご自身なのか、残された家族なのか・・・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どちらの状況になっても大丈夫なように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一緒にページを埋めていきましょう。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終活に向けて、今すべきことが見えてきます。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E07F8F4-E8F1-4DF0-164D-2C03249FA03F}"/>
              </a:ext>
            </a:extLst>
          </p:cNvPr>
          <p:cNvSpPr txBox="1"/>
          <p:nvPr/>
        </p:nvSpPr>
        <p:spPr>
          <a:xfrm>
            <a:off x="3562510" y="6849009"/>
            <a:ext cx="3536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RIA</a:t>
            </a:r>
            <a:r>
              <a:rPr kumimoji="1" lang="ja-JP" altLang="en-US" sz="1600"/>
              <a:t>（投資助言業）</a:t>
            </a:r>
            <a:endParaRPr kumimoji="1" lang="en-US" altLang="ja-JP" sz="1600" dirty="0"/>
          </a:p>
          <a:p>
            <a:r>
              <a:rPr kumimoji="1" lang="ja-JP" altLang="en-US" sz="1600"/>
              <a:t>長年に渡り顧客の資産管理・</a:t>
            </a:r>
            <a:endParaRPr kumimoji="1" lang="en-US" altLang="ja-JP" sz="1600" dirty="0"/>
          </a:p>
          <a:p>
            <a:r>
              <a:rPr kumimoji="1" lang="ja-JP" altLang="en-US" sz="1600"/>
              <a:t>運用を手掛け講演実績も多数。</a:t>
            </a: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1E0B61A7-0061-B4E7-FFEF-F73D4B05D38B}"/>
              </a:ext>
            </a:extLst>
          </p:cNvPr>
          <p:cNvGrpSpPr/>
          <p:nvPr/>
        </p:nvGrpSpPr>
        <p:grpSpPr>
          <a:xfrm>
            <a:off x="5115502" y="3383041"/>
            <a:ext cx="1360311" cy="1666395"/>
            <a:chOff x="436435" y="3168252"/>
            <a:chExt cx="1360311" cy="1666395"/>
          </a:xfrm>
        </p:grpSpPr>
        <p:pic>
          <p:nvPicPr>
            <p:cNvPr id="54" name="図 53" descr="屋内, 座る, テーブル, コンピュータ が含まれている画像&#10;&#10;自動的に生成された説明">
              <a:extLst>
                <a:ext uri="{FF2B5EF4-FFF2-40B4-BE49-F238E27FC236}">
                  <a16:creationId xmlns:a16="http://schemas.microsoft.com/office/drawing/2014/main" id="{2F59A7CA-F2DC-2837-727A-20D73CF97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006" y="3168252"/>
              <a:ext cx="985171" cy="1313561"/>
            </a:xfrm>
            <a:prstGeom prst="rect">
              <a:avLst/>
            </a:prstGeom>
          </p:spPr>
        </p:pic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5A5CE52C-4843-0B2C-870F-25A3389DEC33}"/>
                </a:ext>
              </a:extLst>
            </p:cNvPr>
            <p:cNvSpPr txBox="1"/>
            <p:nvPr/>
          </p:nvSpPr>
          <p:spPr>
            <a:xfrm>
              <a:off x="436435" y="4465315"/>
              <a:ext cx="1360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accent4">
                      <a:lumMod val="50000"/>
                    </a:schemeClr>
                  </a:solidFill>
                  <a:latin typeface="HGMaruGothicMPRO" panose="020F0600000000000000" pitchFamily="34" charset="-128"/>
                  <a:ea typeface="HGMaruGothicMPRO" panose="020F0600000000000000" pitchFamily="34" charset="-128"/>
                </a:rPr>
                <a:t>エンディングノートをプレゼント</a:t>
              </a:r>
            </a:p>
          </p:txBody>
        </p:sp>
      </p:grpSp>
      <p:graphicFrame>
        <p:nvGraphicFramePr>
          <p:cNvPr id="67" name="表 67">
            <a:extLst>
              <a:ext uri="{FF2B5EF4-FFF2-40B4-BE49-F238E27FC236}">
                <a16:creationId xmlns:a16="http://schemas.microsoft.com/office/drawing/2014/main" id="{B7789CB0-E100-F4F9-0D33-7C77A8DBF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105792"/>
              </p:ext>
            </p:extLst>
          </p:nvPr>
        </p:nvGraphicFramePr>
        <p:xfrm>
          <a:off x="622398" y="3202901"/>
          <a:ext cx="4505876" cy="1760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088">
                  <a:extLst>
                    <a:ext uri="{9D8B030D-6E8A-4147-A177-3AD203B41FA5}">
                      <a16:colId xmlns:a16="http://schemas.microsoft.com/office/drawing/2014/main" val="742504449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649508861"/>
                    </a:ext>
                  </a:extLst>
                </a:gridCol>
                <a:gridCol w="2372408">
                  <a:extLst>
                    <a:ext uri="{9D8B030D-6E8A-4147-A177-3AD203B41FA5}">
                      <a16:colId xmlns:a16="http://schemas.microsoft.com/office/drawing/2014/main" val="928002244"/>
                    </a:ext>
                  </a:extLst>
                </a:gridCol>
              </a:tblGrid>
              <a:tr h="350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</a:t>
                      </a:r>
                      <a:r>
                        <a:rPr kumimoji="1" lang="ja-JP" altLang="en-US" sz="105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日目　</a:t>
                      </a:r>
                      <a:endParaRPr kumimoji="1" lang="en-US" altLang="ja-JP" sz="105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9/20(</a:t>
                      </a:r>
                      <a:r>
                        <a:rPr kumimoji="1" lang="ja-JP" altLang="en-US" sz="105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火</a:t>
                      </a:r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)</a:t>
                      </a:r>
                      <a:endParaRPr kumimoji="1" lang="ja-JP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10:30〜12:00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エンディングノートで</a:t>
                      </a:r>
                      <a:endParaRPr kumimoji="1" lang="en-US" altLang="ja-JP" sz="1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12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終活を考える</a:t>
                      </a:r>
                      <a:endParaRPr kumimoji="1" lang="ja-JP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556697"/>
                  </a:ext>
                </a:extLst>
              </a:tr>
              <a:tr h="338067">
                <a:tc row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2</a:t>
                      </a:r>
                      <a:r>
                        <a:rPr kumimoji="1" lang="ja-JP" altLang="en-US" sz="105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日目</a:t>
                      </a:r>
                      <a:endParaRPr kumimoji="1" lang="en-US" altLang="ja-JP" sz="105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10/7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(</a:t>
                      </a:r>
                      <a:r>
                        <a:rPr kumimoji="1" lang="ja-JP" altLang="en-US" sz="105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金</a:t>
                      </a:r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)</a:t>
                      </a:r>
                    </a:p>
                    <a:p>
                      <a:pPr algn="ctr"/>
                      <a:endParaRPr kumimoji="1" lang="ja-JP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10:30〜12:00 </a:t>
                      </a:r>
                      <a:endParaRPr kumimoji="1" lang="ja-JP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エンディングノートを</a:t>
                      </a:r>
                      <a:endParaRPr kumimoji="1" lang="en-US" altLang="ja-JP" sz="1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12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書いてみよう</a:t>
                      </a:r>
                      <a:endParaRPr kumimoji="1" lang="ja-JP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555714"/>
                  </a:ext>
                </a:extLst>
              </a:tr>
              <a:tr h="32603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12:00〜13:00 </a:t>
                      </a:r>
                      <a:endParaRPr kumimoji="1" lang="ja-JP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ランチタイム</a:t>
                      </a:r>
                      <a:endParaRPr kumimoji="1" lang="en-US" altLang="ja-JP" sz="1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105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（ベルコさん自慢の昼食が出ます）</a:t>
                      </a:r>
                      <a:endParaRPr kumimoji="1" lang="en-US" altLang="ja-JP" sz="105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798175"/>
                  </a:ext>
                </a:extLst>
              </a:tr>
              <a:tr h="29080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13:00〜15:00 </a:t>
                      </a:r>
                      <a:endParaRPr kumimoji="1" lang="ja-JP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投資セミナー</a:t>
                      </a:r>
                      <a:endParaRPr kumimoji="1" lang="en-US" altLang="ja-JP" sz="12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（投資に関する疑問・質問受付けます☆）</a:t>
                      </a:r>
                      <a:endParaRPr kumimoji="1" lang="en-US" altLang="ja-JP" sz="9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445222"/>
                  </a:ext>
                </a:extLst>
              </a:tr>
            </a:tbl>
          </a:graphicData>
        </a:graphic>
      </p:graphicFrame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A49C34D-7EC9-32D0-0BAB-39A1CE28DCF7}"/>
              </a:ext>
            </a:extLst>
          </p:cNvPr>
          <p:cNvSpPr txBox="1"/>
          <p:nvPr/>
        </p:nvSpPr>
        <p:spPr>
          <a:xfrm>
            <a:off x="709946" y="5063158"/>
            <a:ext cx="58195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参加費：無料（</a:t>
            </a:r>
            <a:r>
              <a:rPr kumimoji="1" lang="en-US" altLang="ja-JP" sz="1400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10/7</a:t>
            </a:r>
            <a:r>
              <a:rPr kumimoji="1" lang="ja-JP" altLang="en-US" sz="14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はランチ付き）</a:t>
            </a:r>
            <a:endParaRPr kumimoji="1" lang="en-US" altLang="ja-JP" sz="1400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kumimoji="1" lang="ja-JP" altLang="en-US" sz="14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定員　：</a:t>
            </a:r>
            <a:r>
              <a:rPr kumimoji="1" lang="en-US" altLang="ja-JP" sz="1400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10</a:t>
            </a:r>
            <a:r>
              <a:rPr kumimoji="1" lang="ja-JP" altLang="en-US" sz="14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名　　　</a:t>
            </a:r>
            <a:endParaRPr kumimoji="1" lang="en-US" altLang="ja-JP" sz="1400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kumimoji="1" lang="ja-JP" altLang="en-US" sz="14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会場　：ベルコシティホール仙台西　</a:t>
            </a:r>
            <a:r>
              <a:rPr lang="zh-TW" altLang="en-US" sz="1100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仙台市青葉区郷六龍沢</a:t>
            </a:r>
            <a:r>
              <a:rPr lang="en-US" altLang="zh-TW" sz="1100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26-3</a:t>
            </a:r>
            <a:r>
              <a:rPr lang="ja-JP" altLang="en-US" sz="11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（駐車可）</a:t>
            </a:r>
          </a:p>
          <a:p>
            <a:endParaRPr kumimoji="1" lang="ja-JP" altLang="en-US" sz="1400" b="1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0315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DCED2D-7A9E-6219-7A2A-43F6339C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3B7320-8793-1632-ED9C-930041ACBBEB}"/>
              </a:ext>
            </a:extLst>
          </p:cNvPr>
          <p:cNvSpPr/>
          <p:nvPr/>
        </p:nvSpPr>
        <p:spPr>
          <a:xfrm>
            <a:off x="0" y="394214"/>
            <a:ext cx="6858000" cy="9511785"/>
          </a:xfrm>
          <a:prstGeom prst="rect">
            <a:avLst/>
          </a:prstGeom>
          <a:solidFill>
            <a:srgbClr val="FB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6600" b="1">
              <a:ln>
                <a:solidFill>
                  <a:schemeClr val="tx1"/>
                </a:solidFill>
              </a:ln>
              <a:latin typeface="Hiragino Kaku Gothic StdN W8" panose="020B0800000000000000" pitchFamily="34" charset="-128"/>
              <a:ea typeface="Hiragino Kaku Gothic StdN W8" panose="020B0800000000000000" pitchFamily="34" charset="-128"/>
            </a:endParaRPr>
          </a:p>
        </p:txBody>
      </p:sp>
      <p:sp>
        <p:nvSpPr>
          <p:cNvPr id="5" name="平行四辺形 4">
            <a:extLst>
              <a:ext uri="{FF2B5EF4-FFF2-40B4-BE49-F238E27FC236}">
                <a16:creationId xmlns:a16="http://schemas.microsoft.com/office/drawing/2014/main" id="{F17FDB1A-5B0A-D981-D9B6-0B7B32C638BC}"/>
              </a:ext>
            </a:extLst>
          </p:cNvPr>
          <p:cNvSpPr/>
          <p:nvPr/>
        </p:nvSpPr>
        <p:spPr>
          <a:xfrm>
            <a:off x="0" y="1314448"/>
            <a:ext cx="6858000" cy="208739"/>
          </a:xfrm>
          <a:prstGeom prst="parallelogram">
            <a:avLst>
              <a:gd name="adj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平行四辺形 3">
            <a:extLst>
              <a:ext uri="{FF2B5EF4-FFF2-40B4-BE49-F238E27FC236}">
                <a16:creationId xmlns:a16="http://schemas.microsoft.com/office/drawing/2014/main" id="{7CCF5EC8-BDAC-25DA-9D05-47CF41757438}"/>
              </a:ext>
            </a:extLst>
          </p:cNvPr>
          <p:cNvSpPr/>
          <p:nvPr/>
        </p:nvSpPr>
        <p:spPr>
          <a:xfrm>
            <a:off x="0" y="-14409"/>
            <a:ext cx="6858000" cy="1423623"/>
          </a:xfrm>
          <a:prstGeom prst="parallelogram">
            <a:avLst>
              <a:gd name="adj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40A596D-B4F8-B8CE-C1A5-8899936A0B0E}"/>
              </a:ext>
            </a:extLst>
          </p:cNvPr>
          <p:cNvSpPr txBox="1"/>
          <p:nvPr/>
        </p:nvSpPr>
        <p:spPr>
          <a:xfrm>
            <a:off x="219798" y="557301"/>
            <a:ext cx="6311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終活</a:t>
            </a:r>
            <a:r>
              <a:rPr kumimoji="1" lang="ja-JP" altLang="en-US" sz="36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＆</a:t>
            </a:r>
            <a:r>
              <a:rPr kumimoji="1" lang="ja-JP" altLang="en-US"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投資セミナー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5B64FD-020B-E086-A2E3-B6BF0847B959}"/>
              </a:ext>
            </a:extLst>
          </p:cNvPr>
          <p:cNvSpPr txBox="1"/>
          <p:nvPr/>
        </p:nvSpPr>
        <p:spPr>
          <a:xfrm>
            <a:off x="1643817" y="62467"/>
            <a:ext cx="3740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おひとりさま</a:t>
            </a:r>
            <a:r>
              <a:rPr kumimoji="1" lang="ja-JP" altLang="en-US"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rPr>
              <a:t>のための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B331D0E-C02A-FEB9-C3E5-663521E6F7C0}"/>
              </a:ext>
            </a:extLst>
          </p:cNvPr>
          <p:cNvSpPr txBox="1"/>
          <p:nvPr/>
        </p:nvSpPr>
        <p:spPr>
          <a:xfrm>
            <a:off x="219798" y="9477287"/>
            <a:ext cx="7536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FAX : 022-371-3112</a:t>
            </a:r>
            <a:r>
              <a:rPr lang="ja-JP" altLang="en-US" sz="120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　　　</a:t>
            </a:r>
            <a:r>
              <a:rPr lang="en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Mail : </a:t>
            </a:r>
            <a:r>
              <a:rPr lang="en" altLang="ja-JP" sz="1200" dirty="0" err="1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ria-kikuta@shonansec-planning.com</a:t>
            </a:r>
            <a:endParaRPr kumimoji="1" lang="ja-JP" altLang="en-US" sz="1200">
              <a:solidFill>
                <a:schemeClr val="bg2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lang="ja-JP" altLang="en-US" sz="120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湘南証券年金プランニング　　仙台市泉区泉中央</a:t>
            </a:r>
            <a:r>
              <a:rPr lang="en-US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1-7-1 </a:t>
            </a:r>
            <a:r>
              <a:rPr lang="ja-JP" altLang="en-US" sz="120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地下鉄泉中央駅ビル</a:t>
            </a:r>
            <a:r>
              <a:rPr lang="en-US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4</a:t>
            </a:r>
            <a:r>
              <a:rPr lang="en" altLang="ja-JP" sz="1200" dirty="0">
                <a:solidFill>
                  <a:schemeClr val="bg2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F </a:t>
            </a:r>
            <a:endParaRPr lang="en-US" altLang="ja-JP" sz="1200" dirty="0">
              <a:solidFill>
                <a:schemeClr val="bg2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73E5903-4406-973A-B790-B12913A6B3BE}"/>
              </a:ext>
            </a:extLst>
          </p:cNvPr>
          <p:cNvGrpSpPr/>
          <p:nvPr/>
        </p:nvGrpSpPr>
        <p:grpSpPr>
          <a:xfrm>
            <a:off x="2386931" y="6063296"/>
            <a:ext cx="4765389" cy="1641471"/>
            <a:chOff x="489115" y="6362928"/>
            <a:chExt cx="4765389" cy="1641471"/>
          </a:xfrm>
        </p:grpSpPr>
        <p:sp>
          <p:nvSpPr>
            <p:cNvPr id="52" name="角丸四角形 51">
              <a:extLst>
                <a:ext uri="{FF2B5EF4-FFF2-40B4-BE49-F238E27FC236}">
                  <a16:creationId xmlns:a16="http://schemas.microsoft.com/office/drawing/2014/main" id="{BC65EBE3-563C-0DA2-0A26-534A4065C924}"/>
                </a:ext>
              </a:extLst>
            </p:cNvPr>
            <p:cNvSpPr/>
            <p:nvPr/>
          </p:nvSpPr>
          <p:spPr>
            <a:xfrm>
              <a:off x="567200" y="6566723"/>
              <a:ext cx="4282386" cy="1437676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角丸四角形 52">
              <a:extLst>
                <a:ext uri="{FF2B5EF4-FFF2-40B4-BE49-F238E27FC236}">
                  <a16:creationId xmlns:a16="http://schemas.microsoft.com/office/drawing/2014/main" id="{9000DE45-E5C5-91F4-F4FE-D0EA338A6E7C}"/>
                </a:ext>
              </a:extLst>
            </p:cNvPr>
            <p:cNvSpPr/>
            <p:nvPr/>
          </p:nvSpPr>
          <p:spPr>
            <a:xfrm>
              <a:off x="489115" y="6480620"/>
              <a:ext cx="4282386" cy="14376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5" name="図 54">
              <a:extLst>
                <a:ext uri="{FF2B5EF4-FFF2-40B4-BE49-F238E27FC236}">
                  <a16:creationId xmlns:a16="http://schemas.microsoft.com/office/drawing/2014/main" id="{277A04D3-B4F3-37A8-B718-FB863A7B9D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459" t="-12522" r="19914" b="-1"/>
            <a:stretch/>
          </p:blipFill>
          <p:spPr>
            <a:xfrm>
              <a:off x="696855" y="6362928"/>
              <a:ext cx="948325" cy="1437676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0C410D89-E256-5BB9-8C15-CC835DE03E0F}"/>
                </a:ext>
              </a:extLst>
            </p:cNvPr>
            <p:cNvSpPr txBox="1"/>
            <p:nvPr/>
          </p:nvSpPr>
          <p:spPr>
            <a:xfrm>
              <a:off x="1717751" y="6588389"/>
              <a:ext cx="3536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/>
                <a:t>講師：菊田吉宏</a:t>
              </a:r>
              <a:endParaRPr kumimoji="1" lang="en-US" altLang="ja-JP" b="1" dirty="0"/>
            </a:p>
          </p:txBody>
        </p:sp>
      </p:grpSp>
      <p:graphicFrame>
        <p:nvGraphicFramePr>
          <p:cNvPr id="14" name="表 15">
            <a:extLst>
              <a:ext uri="{FF2B5EF4-FFF2-40B4-BE49-F238E27FC236}">
                <a16:creationId xmlns:a16="http://schemas.microsoft.com/office/drawing/2014/main" id="{8170C500-BD54-6BE3-2D1D-EFD2838D2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801388"/>
              </p:ext>
            </p:extLst>
          </p:nvPr>
        </p:nvGraphicFramePr>
        <p:xfrm>
          <a:off x="112793" y="8248648"/>
          <a:ext cx="6632414" cy="1234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72">
                  <a:extLst>
                    <a:ext uri="{9D8B030D-6E8A-4147-A177-3AD203B41FA5}">
                      <a16:colId xmlns:a16="http://schemas.microsoft.com/office/drawing/2014/main" val="1144226409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3286560721"/>
                    </a:ext>
                  </a:extLst>
                </a:gridCol>
                <a:gridCol w="3109184">
                  <a:extLst>
                    <a:ext uri="{9D8B030D-6E8A-4147-A177-3AD203B41FA5}">
                      <a16:colId xmlns:a16="http://schemas.microsoft.com/office/drawing/2014/main" val="433996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参加</a:t>
                      </a:r>
                      <a:endParaRPr kumimoji="1" lang="en-US" altLang="ja-JP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申込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9/20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（火）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30〜12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　　　　　　　　</a:t>
                      </a:r>
                      <a:endParaRPr kumimoji="1" lang="en-US" altLang="ja-JP" dirty="0">
                        <a:solidFill>
                          <a:schemeClr val="bg2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10/7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（金）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30〜15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（ランチ付き）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　両日参加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  8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（木）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30〜12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　　　　　　　参加・不参加</a:t>
                      </a:r>
                      <a:endParaRPr kumimoji="1" lang="en-US" altLang="ja-JP" dirty="0">
                        <a:solidFill>
                          <a:schemeClr val="bg2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9/20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（火）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30〜15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：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00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（ランチ付き）</a:t>
                      </a:r>
                      <a:r>
                        <a:rPr kumimoji="1" lang="en-US" altLang="ja-JP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 </a:t>
                      </a:r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参加・不参加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6793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お名前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電話番号</a:t>
                      </a:r>
                      <a:endParaRPr kumimoji="1" lang="en-US" altLang="ja-JP" sz="9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（　　　）　　　　　ー　　　　　　　　　　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5400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l"/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メールアドレス</a:t>
                      </a:r>
                    </a:p>
                    <a:p>
                      <a:r>
                        <a:rPr kumimoji="1" lang="ja-JP" altLang="en-US" sz="9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　　　　　　　　　　　　　　　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　　　　　　　　　　　　　　　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558236"/>
                  </a:ext>
                </a:extLst>
              </a:tr>
            </a:tbl>
          </a:graphicData>
        </a:graphic>
      </p:graphicFrame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C261F25-F062-A49E-B64A-0C0EF67D3A7F}"/>
              </a:ext>
            </a:extLst>
          </p:cNvPr>
          <p:cNvSpPr/>
          <p:nvPr/>
        </p:nvSpPr>
        <p:spPr>
          <a:xfrm>
            <a:off x="121887" y="7930652"/>
            <a:ext cx="6623319" cy="32517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AD8AE8C-F460-2EA4-32FF-80301D478735}"/>
              </a:ext>
            </a:extLst>
          </p:cNvPr>
          <p:cNvSpPr txBox="1"/>
          <p:nvPr/>
        </p:nvSpPr>
        <p:spPr>
          <a:xfrm>
            <a:off x="1300624" y="7917269"/>
            <a:ext cx="43799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メールまたは</a:t>
            </a:r>
            <a:r>
              <a:rPr kumimoji="1" lang="en-US" altLang="ja-JP" sz="1600" b="1" dirty="0">
                <a:solidFill>
                  <a:schemeClr val="bg1"/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FAX</a:t>
            </a:r>
            <a:r>
              <a:rPr kumimoji="1" lang="ja-JP" altLang="en-US" sz="1600" b="1">
                <a:solidFill>
                  <a:schemeClr val="bg1"/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にてお申し込みください</a:t>
            </a:r>
          </a:p>
        </p:txBody>
      </p:sp>
      <p:pic>
        <p:nvPicPr>
          <p:cNvPr id="30" name="図 29" descr="図形&#10;&#10;自動的に生成された説明">
            <a:extLst>
              <a:ext uri="{FF2B5EF4-FFF2-40B4-BE49-F238E27FC236}">
                <a16:creationId xmlns:a16="http://schemas.microsoft.com/office/drawing/2014/main" id="{7F04348D-7A7B-1457-BA29-AFE8C7BEC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4824" y="5281498"/>
            <a:ext cx="1555369" cy="330489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5421C4F-01EB-6A09-810A-9868CF69E2F8}"/>
              </a:ext>
            </a:extLst>
          </p:cNvPr>
          <p:cNvSpPr txBox="1"/>
          <p:nvPr/>
        </p:nvSpPr>
        <p:spPr>
          <a:xfrm>
            <a:off x="233972" y="6312579"/>
            <a:ext cx="1997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“おひとりさま”</a:t>
            </a:r>
            <a:endParaRPr kumimoji="1" lang="en-US" altLang="ja-JP" sz="1200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になったとき、老後の生活は大丈夫でしょうか。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欲張らない安全な投資方法を学び、老後に備えましょう。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pic>
        <p:nvPicPr>
          <p:cNvPr id="59" name="図 58" descr="折れ線グラフ&#10;&#10;低い精度で自動的に生成された説明">
            <a:extLst>
              <a:ext uri="{FF2B5EF4-FFF2-40B4-BE49-F238E27FC236}">
                <a16:creationId xmlns:a16="http://schemas.microsoft.com/office/drawing/2014/main" id="{9F9C8D85-DBBA-5338-C41A-A7574AC23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" y="1675530"/>
            <a:ext cx="6614225" cy="4256399"/>
          </a:xfrm>
          <a:prstGeom prst="rect">
            <a:avLst/>
          </a:prstGeom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DB28258-2EE5-7DDE-591B-B808646410F1}"/>
              </a:ext>
            </a:extLst>
          </p:cNvPr>
          <p:cNvSpPr txBox="1"/>
          <p:nvPr/>
        </p:nvSpPr>
        <p:spPr>
          <a:xfrm>
            <a:off x="279261" y="1999089"/>
            <a:ext cx="610725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　</a:t>
            </a:r>
            <a:r>
              <a:rPr kumimoji="1" lang="en-US" altLang="ja-JP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〜</a:t>
            </a:r>
            <a:r>
              <a:rPr kumimoji="1" lang="ja-JP" altLang="en-US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　終活　</a:t>
            </a:r>
            <a:r>
              <a:rPr kumimoji="1" lang="en-US" altLang="ja-JP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〜</a:t>
            </a:r>
            <a:r>
              <a:rPr kumimoji="1" lang="ja-JP" altLang="en-US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　　</a:t>
            </a:r>
            <a:endParaRPr kumimoji="1" lang="en-US" altLang="ja-JP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これからをより良く生きるための活動</a:t>
            </a:r>
            <a:endParaRPr kumimoji="1" lang="en-US" altLang="ja-JP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endParaRPr kumimoji="1" lang="en-US" altLang="ja-JP" sz="8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人生の終わりを考えることで、これからをより良く生きようとする活動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それが“終活”です。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エンディングノートを使って現状を把握し、</a:t>
            </a:r>
            <a:endParaRPr kumimoji="1" lang="en-US" altLang="ja-JP" sz="1200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pPr algn="ctr"/>
            <a:r>
              <a:rPr kumimoji="1" lang="ja-JP" altLang="en-US" sz="120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明るい老後のために今、備えましょう。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E07F8F4-E8F1-4DF0-164D-2C03249FA03F}"/>
              </a:ext>
            </a:extLst>
          </p:cNvPr>
          <p:cNvSpPr txBox="1"/>
          <p:nvPr/>
        </p:nvSpPr>
        <p:spPr>
          <a:xfrm>
            <a:off x="3770175" y="6690689"/>
            <a:ext cx="26163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RIA</a:t>
            </a:r>
            <a:r>
              <a:rPr kumimoji="1" lang="ja-JP" altLang="en-US" sz="1400"/>
              <a:t>（投資助言業）</a:t>
            </a:r>
            <a:endParaRPr kumimoji="1" lang="en-US" altLang="ja-JP" sz="1400" dirty="0"/>
          </a:p>
          <a:p>
            <a:r>
              <a:rPr kumimoji="1" lang="ja-JP" altLang="en-US" sz="1400"/>
              <a:t>長年に渡り顧客の資産管理・</a:t>
            </a:r>
            <a:endParaRPr kumimoji="1" lang="en-US" altLang="ja-JP" sz="1400" dirty="0"/>
          </a:p>
          <a:p>
            <a:r>
              <a:rPr kumimoji="1" lang="ja-JP" altLang="en-US" sz="1400"/>
              <a:t>運用を手掛け講演実績も多数。</a:t>
            </a: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1E0B61A7-0061-B4E7-FFEF-F73D4B05D38B}"/>
              </a:ext>
            </a:extLst>
          </p:cNvPr>
          <p:cNvGrpSpPr/>
          <p:nvPr/>
        </p:nvGrpSpPr>
        <p:grpSpPr>
          <a:xfrm>
            <a:off x="5170830" y="3514739"/>
            <a:ext cx="1360311" cy="1666395"/>
            <a:chOff x="436435" y="3168252"/>
            <a:chExt cx="1360311" cy="1666395"/>
          </a:xfrm>
        </p:grpSpPr>
        <p:pic>
          <p:nvPicPr>
            <p:cNvPr id="54" name="図 53" descr="屋内, 座る, テーブル, コンピュータ が含まれている画像&#10;&#10;自動的に生成された説明">
              <a:extLst>
                <a:ext uri="{FF2B5EF4-FFF2-40B4-BE49-F238E27FC236}">
                  <a16:creationId xmlns:a16="http://schemas.microsoft.com/office/drawing/2014/main" id="{2F59A7CA-F2DC-2837-727A-20D73CF97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006" y="3168252"/>
              <a:ext cx="985171" cy="1313561"/>
            </a:xfrm>
            <a:prstGeom prst="rect">
              <a:avLst/>
            </a:prstGeom>
          </p:spPr>
        </p:pic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5A5CE52C-4843-0B2C-870F-25A3389DEC33}"/>
                </a:ext>
              </a:extLst>
            </p:cNvPr>
            <p:cNvSpPr txBox="1"/>
            <p:nvPr/>
          </p:nvSpPr>
          <p:spPr>
            <a:xfrm>
              <a:off x="436435" y="4465315"/>
              <a:ext cx="1360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900" b="1">
                  <a:solidFill>
                    <a:schemeClr val="accent4">
                      <a:lumMod val="50000"/>
                    </a:schemeClr>
                  </a:solidFill>
                  <a:latin typeface="HGMaruGothicMPRO" panose="020F0600000000000000" pitchFamily="34" charset="-128"/>
                  <a:ea typeface="HGMaruGothicMPRO" panose="020F0600000000000000" pitchFamily="34" charset="-128"/>
                </a:rPr>
                <a:t>エンディングノートをプレゼント</a:t>
              </a:r>
            </a:p>
          </p:txBody>
        </p:sp>
      </p:grpSp>
      <p:graphicFrame>
        <p:nvGraphicFramePr>
          <p:cNvPr id="67" name="表 67">
            <a:extLst>
              <a:ext uri="{FF2B5EF4-FFF2-40B4-BE49-F238E27FC236}">
                <a16:creationId xmlns:a16="http://schemas.microsoft.com/office/drawing/2014/main" id="{B7789CB0-E100-F4F9-0D33-7C77A8DBF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75055"/>
              </p:ext>
            </p:extLst>
          </p:nvPr>
        </p:nvGraphicFramePr>
        <p:xfrm>
          <a:off x="519117" y="3519316"/>
          <a:ext cx="4770333" cy="12329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742504449"/>
                    </a:ext>
                  </a:extLst>
                </a:gridCol>
                <a:gridCol w="1140693">
                  <a:extLst>
                    <a:ext uri="{9D8B030D-6E8A-4147-A177-3AD203B41FA5}">
                      <a16:colId xmlns:a16="http://schemas.microsoft.com/office/drawing/2014/main" val="2649508861"/>
                    </a:ext>
                  </a:extLst>
                </a:gridCol>
                <a:gridCol w="2910185">
                  <a:extLst>
                    <a:ext uri="{9D8B030D-6E8A-4147-A177-3AD203B41FA5}">
                      <a16:colId xmlns:a16="http://schemas.microsoft.com/office/drawing/2014/main" val="928002244"/>
                    </a:ext>
                  </a:extLst>
                </a:gridCol>
              </a:tblGrid>
              <a:tr h="40542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</a:t>
                      </a:r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日目　</a:t>
                      </a:r>
                      <a:endParaRPr kumimoji="1" lang="en-US" altLang="ja-JP" sz="9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9/20(</a:t>
                      </a:r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火</a:t>
                      </a:r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)</a:t>
                      </a:r>
                      <a:endParaRPr kumimoji="1" lang="ja-JP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10:30〜12:00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エンディングノートで無駄な支出を洗い出す</a:t>
                      </a:r>
                      <a:endParaRPr kumimoji="1" lang="en-US" altLang="ja-JP" sz="10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8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現状把握と見直しが無駄な出費を抑えます！</a:t>
                      </a:r>
                      <a:endParaRPr kumimoji="1" lang="en-US" altLang="ja-JP" sz="8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556697"/>
                  </a:ext>
                </a:extLst>
              </a:tr>
              <a:tr h="293769">
                <a:tc row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2</a:t>
                      </a:r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日目</a:t>
                      </a:r>
                      <a:endParaRPr kumimoji="1" lang="en-US" altLang="ja-JP" sz="9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10/7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(</a:t>
                      </a:r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金</a:t>
                      </a:r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)</a:t>
                      </a:r>
                    </a:p>
                    <a:p>
                      <a:pPr algn="ctr"/>
                      <a:endParaRPr kumimoji="1" lang="ja-JP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10:30〜12:00 </a:t>
                      </a:r>
                      <a:endParaRPr kumimoji="1" lang="ja-JP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今すべき事をエンディングノートに書いてみよう</a:t>
                      </a:r>
                      <a:endParaRPr kumimoji="1" lang="en-US" altLang="ja-JP" sz="9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HGMaruGothicMPRO" panose="020F0600000000000000" pitchFamily="34" charset="-128"/>
                        <a:ea typeface="HGMaruGothicMPRO" panose="020F06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8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今改善すると、老後資金に差が出ます！</a:t>
                      </a:r>
                      <a:endParaRPr kumimoji="1" lang="ja-JP" altLang="en-US" sz="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555714"/>
                  </a:ext>
                </a:extLst>
              </a:tr>
              <a:tr h="23848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12:00〜13:00 </a:t>
                      </a:r>
                      <a:endParaRPr kumimoji="1" lang="ja-JP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ランチタイム</a:t>
                      </a:r>
                      <a:endParaRPr kumimoji="1" lang="ja-JP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798175"/>
                  </a:ext>
                </a:extLst>
              </a:tr>
              <a:tr h="238483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13:00〜15:00 </a:t>
                      </a:r>
                      <a:endParaRPr kumimoji="1" lang="ja-JP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HGMaruGothicMPRO" panose="020F0600000000000000" pitchFamily="34" charset="-128"/>
                          <a:ea typeface="HGMaruGothicMPRO" panose="020F0600000000000000" pitchFamily="34" charset="-128"/>
                        </a:rPr>
                        <a:t>投資セミナー</a:t>
                      </a:r>
                      <a:endParaRPr kumimoji="1" lang="ja-JP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445222"/>
                  </a:ext>
                </a:extLst>
              </a:tr>
            </a:tbl>
          </a:graphicData>
        </a:graphic>
      </p:graphicFrame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A49C34D-7EC9-32D0-0BAB-39A1CE28DCF7}"/>
              </a:ext>
            </a:extLst>
          </p:cNvPr>
          <p:cNvSpPr txBox="1"/>
          <p:nvPr/>
        </p:nvSpPr>
        <p:spPr>
          <a:xfrm>
            <a:off x="849758" y="4838239"/>
            <a:ext cx="5819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参加費：無料（ランチ付き）</a:t>
            </a:r>
            <a:endParaRPr kumimoji="1" lang="en-US" altLang="ja-JP" sz="1200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kumimoji="1" lang="ja-JP" altLang="en-US" sz="12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定員　：</a:t>
            </a:r>
            <a:r>
              <a:rPr kumimoji="1" lang="en-US" altLang="ja-JP" sz="1200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10</a:t>
            </a:r>
            <a:r>
              <a:rPr kumimoji="1" lang="ja-JP" altLang="en-US" sz="12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名　　　</a:t>
            </a:r>
            <a:endParaRPr kumimoji="1" lang="en-US" altLang="ja-JP" sz="1200" b="1" dirty="0">
              <a:solidFill>
                <a:schemeClr val="accent4">
                  <a:lumMod val="50000"/>
                </a:schemeClr>
              </a:solidFill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kumimoji="1" lang="ja-JP" altLang="en-US" sz="120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会場　：ベルコシティホール仙台西　</a:t>
            </a:r>
            <a:r>
              <a:rPr lang="zh-TW" altLang="en-US" sz="1050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仙台市青葉区郷六龍沢</a:t>
            </a:r>
            <a:r>
              <a:rPr lang="en-US" altLang="zh-TW" sz="1050" b="1" dirty="0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26-3</a:t>
            </a:r>
            <a:r>
              <a:rPr lang="ja-JP" altLang="en-US" sz="1050" b="1">
                <a:solidFill>
                  <a:schemeClr val="accent4">
                    <a:lumMod val="50000"/>
                  </a:schemeClr>
                </a:solidFill>
                <a:latin typeface="HGMaruGothicMPRO" panose="020F0600000000000000" pitchFamily="34" charset="-128"/>
                <a:ea typeface="HGMaruGothicMPRO" panose="020F0600000000000000" pitchFamily="34" charset="-128"/>
              </a:rPr>
              <a:t>（駐車可）</a:t>
            </a:r>
          </a:p>
        </p:txBody>
      </p:sp>
    </p:spTree>
    <p:extLst>
      <p:ext uri="{BB962C8B-B14F-4D97-AF65-F5344CB8AC3E}">
        <p14:creationId xmlns:p14="http://schemas.microsoft.com/office/powerpoint/2010/main" val="4230589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3302</TotalTime>
  <Words>517</Words>
  <Application>Microsoft Office PowerPoint</Application>
  <PresentationFormat>A4 210 x 297 mm</PresentationFormat>
  <Paragraphs>98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HGMaruGothicMPRO</vt:lpstr>
      <vt:lpstr>Hiragino Kaku Gothic StdN W8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泉区在住の方限定</dc:title>
  <dc:creator>株式会社 アスウィン</dc:creator>
  <cp:lastModifiedBy>Owner</cp:lastModifiedBy>
  <cp:revision>51</cp:revision>
  <cp:lastPrinted>2022-08-31T02:41:19Z</cp:lastPrinted>
  <dcterms:created xsi:type="dcterms:W3CDTF">2022-08-04T00:24:47Z</dcterms:created>
  <dcterms:modified xsi:type="dcterms:W3CDTF">2022-09-07T03:29:29Z</dcterms:modified>
</cp:coreProperties>
</file>